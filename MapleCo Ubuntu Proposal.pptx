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Revenue Growth Trajectory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 M)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 (Proj.)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18.2</c:v>
                </c:pt>
                <c:pt idx="1">
                  <c:v>19.4</c:v>
                </c:pt>
                <c:pt idx="2">
                  <c:v>20.9</c:v>
                </c:pt>
                <c:pt idx="3">
                  <c:v>22.5</c:v>
                </c:pt>
                <c:pt idx="4">
                  <c:v>24.2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28016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Financial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206240" y="2514600"/>
            <a:ext cx="4114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MapleCo Industries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624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Capital · Working Capital · Risk Management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84048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Nevin Ruta  ·  Ubuntu Capital Co.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Goals &amp; Strategic Challenges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164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MapleCo Industries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35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2070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 eco-friendly product segment while defending existing market share from low-cost competitors.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15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Increase output capacity to meet rising demand without overstretching cash reserves.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46557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Discipline: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Maintain margins through cost optimization, automation adoption, and input cost control.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1430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435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2070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19659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Cyclicality: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Year-end credit utilization spikes signal recurring liquidity pressure that requires a structured solution.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83480" y="2715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 Volatility: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Unhedged exposure to commodity price swings — steel, electronics — directly compresses operating margins.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346557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Pressure: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Low-cost entrants are pulling price-sensitive clients, forcing MapleCo to accelerate innovation investment.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Capital Co.  ·  MapleCo Industries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Industry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2011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MapleCo Industries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1E3A5F"/>
          </a:solidFill>
          <a:ln w="6350">
            <a:solidFill>
              <a:srgbClr val="2E4A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Cost Sensitivity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084832"/>
            <a:ext cx="347472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176272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margins are structurally exposed to commodity price fluctuations. Companies that fail to hedge input costs — particularly steel and electronics — face significant operating leverage risk when raw material prices spike.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95020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0050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MapleCo needs a cost-certainty mechanism to protect profitability during volatile cycles.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1005840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1E3A5F"/>
          </a:solidFill>
          <a:ln w="6350">
            <a:solidFill>
              <a:srgbClr val="2E4A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CHALLENGE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93776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Entrant Pressure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2084832"/>
            <a:ext cx="347472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2176272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manufacturers are capturing price-sensitive market segments, narrowing MapleCo's addressable base. This compresses both revenue growth potential and forces higher R&amp;D and innovation spend to differentiate on quality.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95020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0050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Expansion funding must be deployed to innovation and capacity — not patching cash flow gaps.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Capital Co.  ·  MapleCo Industries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164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MapleCo Industries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795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" y="113385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(YoY)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11480" y="1975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industrial avg. of 4–6%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1795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113385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Repayment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337560" y="151790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291840" y="1975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defaults — strong track record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80760" y="10972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9728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795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1384" y="113385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217920" y="151790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Cap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172200" y="1975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year-end strain</a:t>
            </a:r>
            <a:endParaRPr lang="en-US" sz="8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20040" y="242316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Shape 18"/>
          <p:cNvSpPr/>
          <p:nvPr/>
        </p:nvSpPr>
        <p:spPr>
          <a:xfrm>
            <a:off x="5669280" y="242316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806440" y="25146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Indicators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880360"/>
          <a:ext cx="2971800" cy="1737360"/>
        </p:xfrm>
        <a:graphic>
          <a:graphicData uri="http://schemas.openxmlformats.org/drawingml/2006/table">
            <a:tbl>
              <a:tblPr/>
              <a:tblGrid>
                <a:gridCol w="105156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Reliable; cyclical strain Q4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&gt;5% 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defaults; long-term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 / High potential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0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Capital Co.  ·  MapleCo Industries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Tailored Solutions &amp;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949440" y="164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MapleCo Industries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88920" cy="37947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115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86968" y="137160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Line of Credit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2514600" cy="274320"/>
          </a:xfrm>
          <a:prstGeom prst="roundRect">
            <a:avLst>
              <a:gd name="adj" fmla="val 40000"/>
            </a:avLst>
          </a:prstGeom>
          <a:solidFill>
            <a:srgbClr val="D6E4F7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9385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$2MM · Variable Rate · Revolving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250545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credit utilization spikes are a documented, recurring pattern.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07238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liquidity without accumulating long-term debt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charged only on funds drawn — zero cost during stable periods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existing lender relationships while expanding capacity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46120" y="1078992"/>
            <a:ext cx="2788920" cy="37947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07899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8872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13048" y="1115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813048" y="137160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 for Expansion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383280" y="1920240"/>
            <a:ext cx="2514600" cy="274320"/>
          </a:xfrm>
          <a:prstGeom prst="roundRect">
            <a:avLst>
              <a:gd name="adj" fmla="val 40000"/>
            </a:avLst>
          </a:prstGeom>
          <a:solidFill>
            <a:srgbClr val="D6E4F7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83280" y="19385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· Fixed Monthly Payments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83280" y="23042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383280" y="250545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growing; market demand is constant — but scaling requires capital.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83280" y="307238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8328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production capacity expansion without straining operating cash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payments align with MapleCo's projected revenue trajectory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MapleCo to compete on quality as low-cost rivals enter the market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72200" y="1078992"/>
            <a:ext cx="2788920" cy="37947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72200" y="107899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39128" y="1115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03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739128" y="137160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 Hedging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09360" y="1920240"/>
            <a:ext cx="2514600" cy="274320"/>
          </a:xfrm>
          <a:prstGeom prst="roundRect">
            <a:avLst>
              <a:gd name="adj" fmla="val 40000"/>
            </a:avLst>
          </a:prstGeom>
          <a:solidFill>
            <a:srgbClr val="D6E4F7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09360" y="19385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Fixed-Rate Commodity Contracts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309360" y="23042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309360" y="250545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Unhedged exposure to steel and electronics prices is a direct margin risk.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309360" y="307238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309360" y="329184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in input costs — making budgeting predictable regardless of markets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profitability during volatile commodity cycles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MapleCo to price competitively without absorbing cost shocks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Capital Co.  ·  MapleCo Industries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114800" cy="508863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28016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36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Advisory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20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MapleCo's year-end utilization cycle — not just reported it.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889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Anticipation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7240" y="306324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addressed material cost exposure before it became a margin crisis.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657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That Scale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77240" y="39319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grows alongside MapleCo — not built for today, but for the next five years.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20040" y="4480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Nevin Ruta  ·  Financial Analyst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Capital Co.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480560" y="5029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Partnership Value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4480560" y="1874520"/>
            <a:ext cx="42062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480560" y="2011680"/>
            <a:ext cx="4343400" cy="1234440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 w="6350">
            <a:solidFill>
              <a:srgbClr val="2E4A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663440" y="21214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Capital Co.'s recommendations don't simply address MapleCo's immediate capital needs — they build the financial infrastructure for sustainable, long-term growth.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480560" y="3419856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36592" y="3383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financial patterns guided every product choice — nothing was generic.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480560" y="385876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36592" y="38221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risk (material cost volatility) was anticipated and structurally addressed.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480560" y="429768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36592" y="426110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solution is designed to scale alongside MapleCo's revenue trajectory.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480560" y="464515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MapleCo scales, Ubuntu Capital Co. is positioned not just as a lender — but as a strategic partner invested in their success.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MapleCo Industries — Meridian Capital Group Proposal</dc:title>
  <dc:subject>PptxGenJS Presentation</dc:subject>
  <dc:creator>Nevin Ruta</dc:creator>
  <cp:lastModifiedBy>Nevin Ruta</cp:lastModifiedBy>
  <cp:revision>1</cp:revision>
  <dcterms:created xsi:type="dcterms:W3CDTF">2026-06-19T17:19:43Z</dcterms:created>
  <dcterms:modified xsi:type="dcterms:W3CDTF">2026-06-19T17:19:43Z</dcterms:modified>
</cp:coreProperties>
</file>